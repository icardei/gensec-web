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022E30-AF69-40C6-9610-3BF5D6D6EE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C4A5666-6A73-4693-91FF-5D5A293374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F211E7-255E-4EB5-9800-722F575B8B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AAE0ADC-7D25-444A-A9E8-924A0611BD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0594332-6DB5-4E76-88C6-D4D620BC55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149BB9B-55EC-4F67-B290-0503C6D102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DDB7A40-3CD0-4829-ACD3-DC42838DE3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8FD8BED-D376-43B4-9F5E-0191E39F8F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875ADC7-805D-4CFE-80FC-D872F77E8B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479C253-A014-42F6-B5DF-97D99AEB04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E297175-2B4C-49C6-9950-CE37FA0EAB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172DDC-EA80-4699-B314-DCCA16A333B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45443A6-6477-4F12-9A20-0AF206160B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64B5D7-7B27-478A-982E-CEEB72E625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B953E5-6CA6-4949-865D-571729D258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7D9EA2B-ABC8-4FB6-B895-E0B1912E05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D41EAD8-5A8A-49AB-BEB7-F0F38C6619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D4EE94-E524-46A1-AA91-9182A4152C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6E517E-1916-496A-9938-3DB0F12BA4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FE51A2-8A1C-4D37-B414-03A13FAA03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42DCAE-6041-470E-9A46-D9DE7CDB9C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C7611B-7286-418F-B2F5-2A5C345362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www.thefengs.com/wuchang/courses/cs475/" TargetMode="Externa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icardei.github.io/gensec-web/" TargetMode="Externa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2283120" y="1332360"/>
            <a:ext cx="7561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Security Engineering with Generative AI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4158000" y="2979000"/>
            <a:ext cx="3910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Instructor: Dr. Ionut Cardei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4737240" y="4478040"/>
            <a:ext cx="2297880" cy="170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"/>
          <p:cNvSpPr/>
          <p:nvPr/>
        </p:nvSpPr>
        <p:spPr>
          <a:xfrm>
            <a:off x="537480" y="327600"/>
            <a:ext cx="4721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About the course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2"/>
          <p:cNvSpPr/>
          <p:nvPr/>
        </p:nvSpPr>
        <p:spPr>
          <a:xfrm>
            <a:off x="478440" y="1247400"/>
            <a:ext cx="9822600" cy="30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 primer on using generative AI and LLMs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A primer on building applications that utilize them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A primer on securing generative applications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A tour of security problems that can be aided by generative AI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Course adopted from </a:t>
            </a:r>
            <a:r>
              <a:rPr b="0" lang="en-US" sz="22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CS 465</a:t>
            </a: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 Generative Security Application Engineering from Portland State University, created by Prof. Wu-chang Feng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▻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with NSF funding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5"/>
          <p:cNvSpPr/>
          <p:nvPr/>
        </p:nvSpPr>
        <p:spPr>
          <a:xfrm>
            <a:off x="568080" y="4890240"/>
            <a:ext cx="70596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Moving target: technology evolves very rapidly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6"/>
          <p:cNvSpPr/>
          <p:nvPr/>
        </p:nvSpPr>
        <p:spPr>
          <a:xfrm>
            <a:off x="4258800" y="6758280"/>
            <a:ext cx="36723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Portland State University CS 475/575 Generative Security Application Engineering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537480" y="327600"/>
            <a:ext cx="408852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Course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6"/>
          <p:cNvSpPr/>
          <p:nvPr/>
        </p:nvSpPr>
        <p:spPr>
          <a:xfrm>
            <a:off x="795960" y="3134880"/>
            <a:ext cx="394380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7"/>
          <p:cNvSpPr/>
          <p:nvPr/>
        </p:nvSpPr>
        <p:spPr>
          <a:xfrm>
            <a:off x="1269000" y="4127760"/>
            <a:ext cx="7844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1"/>
          <p:cNvSpPr/>
          <p:nvPr/>
        </p:nvSpPr>
        <p:spPr>
          <a:xfrm>
            <a:off x="4258800" y="6758280"/>
            <a:ext cx="36723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Portland State University CS 475/575 Generative Security Application Engineering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9"/>
          <p:cNvSpPr/>
          <p:nvPr/>
        </p:nvSpPr>
        <p:spPr>
          <a:xfrm>
            <a:off x="8117640" y="4441680"/>
            <a:ext cx="21754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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8544600" y="4838040"/>
            <a:ext cx="4427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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2"/>
          <p:cNvSpPr/>
          <p:nvPr/>
        </p:nvSpPr>
        <p:spPr>
          <a:xfrm>
            <a:off x="8544600" y="5203800"/>
            <a:ext cx="38527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04360" y="1567080"/>
            <a:ext cx="9071280" cy="39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Lecture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Hack-a-thon approach each week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Topic introduced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Lab exercises (started in class)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Labs &amp; Homework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Labs screenshots delivered for each module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Individual assignments with screencast walkthroughs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Due Mondays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6611400" y="664200"/>
            <a:ext cx="4971960" cy="35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537480" y="327600"/>
            <a:ext cx="330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Assumptions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5553000" y="3481200"/>
            <a:ext cx="10844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04720" y="1567080"/>
            <a:ext cx="10292400" cy="23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Knowledge of Python or willingness to do work outside of class to learn it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Labs and homeworks all in Python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Some knowledge of security helpful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But will provide content in-place when needed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3"/>
          <p:cNvSpPr/>
          <p:nvPr/>
        </p:nvSpPr>
        <p:spPr>
          <a:xfrm>
            <a:off x="537840" y="327600"/>
            <a:ext cx="330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Grading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14"/>
          <p:cNvSpPr/>
          <p:nvPr/>
        </p:nvSpPr>
        <p:spPr>
          <a:xfrm>
            <a:off x="5553360" y="3481200"/>
            <a:ext cx="10844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54680" y="1086840"/>
            <a:ext cx="10292400" cy="48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Attendance and participation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Lab notebooks PDF for each module, Canvas upload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  <a:ea typeface="Noto Sans CJK SC"/>
              </a:rPr>
              <a:t>Homework programs on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Github repository and screencasts (video link)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Final project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  <a:ea typeface="Noto Sans CJK SC"/>
              </a:rPr>
              <a:t>Cheating policy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Noto Sans CJK SC"/>
              </a:rPr>
              <a:t>Homework programs must be developed individually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Noto Sans CJK SC"/>
              </a:rPr>
              <a:t>But, use of LLMs mandatory ☺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Noto Sans CJK SC"/>
              </a:rPr>
              <a:t>All code submitted must be explained and source cited (e.g. prompt and prompt output must be given)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5"/>
          <p:cNvSpPr/>
          <p:nvPr/>
        </p:nvSpPr>
        <p:spPr>
          <a:xfrm>
            <a:off x="537840" y="327600"/>
            <a:ext cx="46724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Course support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16"/>
          <p:cNvSpPr/>
          <p:nvPr/>
        </p:nvSpPr>
        <p:spPr>
          <a:xfrm>
            <a:off x="5553360" y="3481200"/>
            <a:ext cx="10844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05080" y="1567080"/>
            <a:ext cx="10292400" cy="30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Canvas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Instructor office hours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Course resources, schedule, due dates, assignment guidelines, grading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Homework Q&amp;A Discussion Forum: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ask for help and contribute answers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8"/>
          <p:cNvSpPr/>
          <p:nvPr/>
        </p:nvSpPr>
        <p:spPr>
          <a:xfrm>
            <a:off x="538200" y="327600"/>
            <a:ext cx="46724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Ethics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7"/>
          <p:cNvSpPr/>
          <p:nvPr/>
        </p:nvSpPr>
        <p:spPr>
          <a:xfrm>
            <a:off x="5553720" y="3481200"/>
            <a:ext cx="10844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05440" y="1567080"/>
            <a:ext cx="10292400" cy="20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You will learn techniques and tools for compromising users and systems.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Do *</a:t>
            </a:r>
            <a:r>
              <a:rPr b="1" lang="en-US" sz="3200" spc="-1" strike="noStrike">
                <a:solidFill>
                  <a:schemeClr val="dk1"/>
                </a:solidFill>
                <a:latin typeface="Arial"/>
              </a:rPr>
              <a:t>NOT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* use them against any site outside of those you own or are given permission to access.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3"/>
          <p:cNvSpPr/>
          <p:nvPr/>
        </p:nvSpPr>
        <p:spPr>
          <a:xfrm>
            <a:off x="538200" y="327600"/>
            <a:ext cx="46724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How to Get Started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5553720" y="3481200"/>
            <a:ext cx="10844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05080" y="1567080"/>
            <a:ext cx="10292400" cy="30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Complete these Module 1 labs starting from the </a:t>
            </a:r>
            <a:r>
              <a:rPr b="0" i="1" lang="en-US" sz="3200" spc="-1" strike="noStrike">
                <a:solidFill>
                  <a:schemeClr val="dk1"/>
                </a:solidFill>
                <a:latin typeface="Arial"/>
              </a:rPr>
              <a:t>Labs and Homeworks </a:t>
            </a:r>
            <a:r>
              <a:rPr b="0" i="1" lang="en-US" sz="3200" spc="-1" strike="noStrike" u="sng">
                <a:solidFill>
                  <a:srgbClr val="2a6099"/>
                </a:solidFill>
                <a:uFillTx/>
                <a:latin typeface="Arial"/>
                <a:hlinkClick r:id="rId1"/>
              </a:rPr>
              <a:t>main page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01.1 Setup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01.2 Ollama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01.3 Programmatic Model Access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Install Visual Studio Code (VSCode): follow the steps from the corresponding on Canvas 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recommended (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not required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): install an AI Coding Agent (such as OpenAI Codex, Github Copilot, Google Antigravity, Anthropic Claude Code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I.C.</cp:lastModifiedBy>
  <dcterms:modified xsi:type="dcterms:W3CDTF">2026-08-25T13:56:34Z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